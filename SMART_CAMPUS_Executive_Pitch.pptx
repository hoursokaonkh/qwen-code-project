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Transforming Education Through Technology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0175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SMART-CAMPUS - A Unified Digital Ecosystem for NPIC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Hour Sokaon</a:t>
            </a:r>
            <a:br/>
            <a:r>
              <a:t>Research &amp; Technology Development Center</a:t>
            </a:r>
            <a:br/>
            <a:r>
              <a:t>hoursokaon@npic.edu.kh | +855 11 976-799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The Cost of Inaction vs. The Power of Digital Transformation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404040"/>
                </a:solidFill>
              </a:defRPr>
            </a:pPr>
            <a:r>
              <a:t>STATUS QUO: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404040"/>
                </a:solidFill>
              </a:defRPr>
            </a:pPr>
            <a:r>
              <a:t>* Siloed Data: Student records in disconnected spreadsheets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404040"/>
                </a:solidFill>
              </a:defRPr>
            </a:pPr>
            <a:r>
              <a:t>* Manual Bottlenecks: Enrollment consumes thousands of staff-hours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346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404040"/>
                </a:solidFill>
              </a:defRPr>
            </a:pPr>
            <a:r>
              <a:t>* Revenue Leakage: Untracked assets, delayed payments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3832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404040"/>
                </a:solidFill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457200" y="3657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404040"/>
                </a:solidFill>
              </a:defRPr>
            </a:pPr>
            <a:r>
              <a:t>THE FUTURE: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2062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404040"/>
                </a:solidFill>
              </a:defRPr>
            </a:pPr>
            <a:r>
              <a:t>* Unified Ecosystem: One platform for all operations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754879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404040"/>
                </a:solidFill>
              </a:defRPr>
            </a:pPr>
            <a:r>
              <a:t>* Automated Workflows: From enrollment to graduation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303519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404040"/>
                </a:solidFill>
              </a:defRPr>
            </a:pPr>
            <a:r>
              <a:t>* Real-Time Intelligence: Instant insights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One Platform. Every Operation. Total Control.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04040"/>
                </a:solidFill>
              </a:defRPr>
            </a:pPr>
            <a:r>
              <a:t>UNIFIED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404040"/>
                </a:solidFill>
              </a:defRPr>
            </a:pPr>
            <a:r>
              <a:t>Academics, Finance, Facilities, HR, IoT, LMS - all in one place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04040"/>
                </a:solidFill>
              </a:defRPr>
            </a:pPr>
            <a:r>
              <a:t>MULTI-CAMPUS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1089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404040"/>
                </a:solidFill>
              </a:defRPr>
            </a:pPr>
            <a:r>
              <a:t>Centralized oversight with localized control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7490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04040"/>
                </a:solidFill>
              </a:defRPr>
            </a:pPr>
            <a:r>
              <a:t>ENTERPRISE SECURITY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3891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404040"/>
                </a:solidFill>
              </a:defRPr>
            </a:pPr>
            <a:r>
              <a:t>Role-Based Access Control (RBAC)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029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04040"/>
                </a:solidFill>
              </a:defRPr>
            </a:pPr>
            <a:r>
              <a:t>REAL-TIME OPERATIONS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6692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404040"/>
                </a:solidFill>
              </a:defRPr>
            </a:pPr>
            <a:r>
              <a:t>Live dashboards, instant notifications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Measurable Impact. Immediate ROI.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25603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800020"/>
                </a:solidFill>
              </a:defRPr>
            </a:pPr>
            <a:r>
              <a:t>85%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2560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03366"/>
                </a:solidFill>
              </a:defRPr>
            </a:pPr>
            <a:r>
              <a:t>Reduction in Admin 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657600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404040"/>
                </a:solidFill>
              </a:defRPr>
            </a:pPr>
            <a:r>
              <a:t>Automate enrollment, invoicing, tracking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828800"/>
            <a:ext cx="25603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800020"/>
                </a:solidFill>
              </a:defRPr>
            </a:pPr>
            <a:r>
              <a:t>$0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3017520"/>
            <a:ext cx="2560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03366"/>
                </a:solidFill>
              </a:defRPr>
            </a:pPr>
            <a:r>
              <a:t>Revenue Shrinkage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3657600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404040"/>
                </a:solidFill>
              </a:defRPr>
            </a:pPr>
            <a:r>
              <a:t>Standardized asset codes eliminate loss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0" y="1828800"/>
            <a:ext cx="25603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800020"/>
                </a:solidFill>
              </a:defRPr>
            </a:pPr>
            <a:r>
              <a:t>100%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0" y="3017520"/>
            <a:ext cx="2560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03366"/>
                </a:solidFill>
              </a:defRPr>
            </a:pPr>
            <a:r>
              <a:t>Data Integrity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0" y="3657600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404040"/>
                </a:solidFill>
              </a:defRPr>
            </a:pPr>
            <a:r>
              <a:t>Single source of truth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From Enrollment to Graduation - Digitally Seamless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04040"/>
                </a:solidFill>
              </a:defRPr>
            </a:pPr>
            <a:r>
              <a:t>ONLINE ENROLLMENT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404040"/>
                </a:solidFill>
              </a:defRPr>
            </a:pPr>
            <a:r>
              <a:t>Students apply from anywhere - guided step-by-step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04040"/>
                </a:solidFill>
              </a:defRPr>
            </a:pPr>
            <a:r>
              <a:t>DYNAMIC BATCH MANAGEMENT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1089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404040"/>
                </a:solidFill>
              </a:defRPr>
            </a:pPr>
            <a:r>
              <a:t>Configure courses and schedules with drag-and-drop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7490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04040"/>
                </a:solidFill>
              </a:defRPr>
            </a:pPr>
            <a:r>
              <a:t>REAL-TIME ANALYTICS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3891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404040"/>
                </a:solidFill>
              </a:defRPr>
            </a:pPr>
            <a:r>
              <a:t>Track enrollment trends and student performance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029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04040"/>
                </a:solidFill>
              </a:defRPr>
            </a:pPr>
            <a:r>
              <a:t>AUTOMATED GRADUATION TRACKING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6692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404040"/>
                </a:solidFill>
              </a:defRPr>
            </a:pPr>
            <a:r>
              <a:t>Monitor degree progress automatically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Know Every Building. Track Every Asset.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04040"/>
                </a:solidFill>
              </a:defRPr>
            </a:pPr>
            <a:r>
              <a:t>DIGITAL TWIN INFRASTRUCTURE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404040"/>
                </a:solidFill>
              </a:defRPr>
            </a:pPr>
            <a:r>
              <a:t>Buildings -&gt; Floors -&gt; Rooms mapping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04040"/>
                </a:solidFill>
              </a:defRPr>
            </a:pPr>
            <a:r>
              <a:t>INTELLIGENT ASSET CODES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1089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404040"/>
                </a:solidFill>
              </a:defRPr>
            </a:pPr>
            <a:r>
              <a:t>Automated tagging (e.g., LAB-COMP-001)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7490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04040"/>
                </a:solidFill>
              </a:defRPr>
            </a:pPr>
            <a:r>
              <a:t>MOBILE SCANNING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3891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404040"/>
                </a:solidFill>
              </a:defRPr>
            </a:pPr>
            <a:r>
              <a:t>Instant check-in/check-out via smartphone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029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04040"/>
                </a:solidFill>
              </a:defRPr>
            </a:pPr>
            <a:r>
              <a:t>PROACTIVE MAINTENANCE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6692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404040"/>
                </a:solidFill>
              </a:defRPr>
            </a:pPr>
            <a:r>
              <a:t>Schedule-based alerts prevent failures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Automate Billing. Accelerate Cash Flow.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04040"/>
                </a:solidFill>
              </a:defRPr>
            </a:pPr>
            <a:r>
              <a:t>AUTO-INVOICING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404040"/>
                </a:solidFill>
              </a:defRPr>
            </a:pPr>
            <a:r>
              <a:t>Invoice created when student enrolls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04040"/>
                </a:solidFill>
              </a:defRPr>
            </a:pPr>
            <a:r>
              <a:t>BAKONG KHQR INTEGRATION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1089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404040"/>
                </a:solidFill>
              </a:defRPr>
            </a:pPr>
            <a:r>
              <a:t>Scan-to-pay via Cambodia's national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7490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04040"/>
                </a:solidFill>
              </a:defRPr>
            </a:pPr>
            <a:r>
              <a:t>SCHOLARSHIP MANAGEMENT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3891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404040"/>
                </a:solidFill>
              </a:defRPr>
            </a:pPr>
            <a:r>
              <a:t>Discounts applied automatically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029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04040"/>
                </a:solidFill>
              </a:defRPr>
            </a:pPr>
            <a:r>
              <a:t>FINANCIAL DASHBOARDS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6692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404040"/>
                </a:solidFill>
              </a:defRPr>
            </a:pPr>
            <a:r>
              <a:t>Real-time revenue tracking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Why Cloud Over On-Premise?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3366"/>
                </a:solidFill>
              </a:defRPr>
            </a:pPr>
            <a:r>
              <a:t>Factor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1188720"/>
            <a:ext cx="2560320" cy="457200"/>
          </a:xfrm>
          <a:prstGeom prst="rect">
            <a:avLst/>
          </a:prstGeom>
          <a:solidFill>
            <a:srgbClr val="80002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Cloud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0" y="1188720"/>
            <a:ext cx="2560320" cy="457200"/>
          </a:xfrm>
          <a:prstGeom prst="rect">
            <a:avLst/>
          </a:prstGeom>
          <a:solidFill>
            <a:srgbClr val="80002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On-Premise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37360"/>
            <a:ext cx="2560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3366"/>
                </a:solidFill>
              </a:defRPr>
            </a:pPr>
            <a:r>
              <a:t>Upfront Investment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73736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404040"/>
                </a:solidFill>
              </a:defRPr>
            </a:pPr>
            <a:r>
              <a:t>Low - Pay-as-you-go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173736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404040"/>
                </a:solidFill>
              </a:defRPr>
            </a:pPr>
            <a:r>
              <a:t>High - Servers, cooling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423160"/>
            <a:ext cx="2560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3366"/>
                </a:solidFill>
              </a:defRPr>
            </a:pPr>
            <a:r>
              <a:t>Scalability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42316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404040"/>
                </a:solidFill>
              </a:defRPr>
            </a:pPr>
            <a:r>
              <a:t>Instant elasticity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242316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404040"/>
                </a:solidFill>
              </a:defRPr>
            </a:pPr>
            <a:r>
              <a:t>Fixed capacity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108960"/>
            <a:ext cx="2560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3366"/>
                </a:solidFill>
              </a:defRPr>
            </a:pPr>
            <a:r>
              <a:t>Maintenance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310896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404040"/>
                </a:solidFill>
              </a:defRPr>
            </a:pPr>
            <a:r>
              <a:t>Zero upkeep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310896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404040"/>
                </a:solidFill>
              </a:defRPr>
            </a:pPr>
            <a:r>
              <a:t>24/7 IT team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794760"/>
            <a:ext cx="2560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3366"/>
                </a:solidFill>
              </a:defRPr>
            </a:pPr>
            <a:r>
              <a:t>Security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379476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404040"/>
                </a:solidFill>
              </a:defRPr>
            </a:pPr>
            <a:r>
              <a:t>Built-in compliance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379476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404040"/>
                </a:solidFill>
              </a:defRPr>
            </a:pPr>
            <a:r>
              <a:t>Your responsibility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480560"/>
            <a:ext cx="2560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3366"/>
                </a:solidFill>
              </a:defRPr>
            </a:pPr>
            <a:r>
              <a:t>Uptime SLA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48056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404040"/>
                </a:solidFill>
              </a:defRPr>
            </a:pPr>
            <a:r>
              <a:t>99.9%+ redundancy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448056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404040"/>
                </a:solidFill>
              </a:defRPr>
            </a:pPr>
            <a:r>
              <a:t>Local infrastructure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166360"/>
            <a:ext cx="2560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3366"/>
                </a:solidFill>
              </a:defRPr>
            </a:pPr>
            <a:r>
              <a:t>Updates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516636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404040"/>
                </a:solidFill>
              </a:defRPr>
            </a:pPr>
            <a:r>
              <a:t>Automatic, zero downtime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516636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404040"/>
                </a:solidFill>
              </a:defRPr>
            </a:pPr>
            <a:r>
              <a:t>Manual deployments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Enterprise-Grade. Battle-Tested. Future-Ready.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04040"/>
                </a:solidFill>
              </a:defRPr>
            </a:pPr>
            <a:r>
              <a:t>NEXT.JS FRONTEND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404040"/>
                </a:solidFill>
              </a:defRPr>
            </a:pPr>
            <a:r>
              <a:t>Fast, responsive UX across devices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04040"/>
                </a:solidFill>
              </a:defRPr>
            </a:pPr>
            <a:r>
              <a:t>NESTJS + PRISMA BACKEND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1089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404040"/>
                </a:solidFill>
              </a:defRPr>
            </a:pPr>
            <a:r>
              <a:t>Type-safe architecture with robust API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7490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04040"/>
                </a:solidFill>
              </a:defRPr>
            </a:pPr>
            <a:r>
              <a:t>DOCKER CONTAINERS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3891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404040"/>
                </a:solidFill>
              </a:defRPr>
            </a:pPr>
            <a:r>
              <a:t>Consistent deployment - 99.9% uptime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029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04040"/>
                </a:solidFill>
              </a:defRPr>
            </a:pPr>
            <a:r>
              <a:t>MQTT IOT GATEWAY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6692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404040"/>
                </a:solidFill>
              </a:defRPr>
            </a:pPr>
            <a:r>
              <a:t>Live sensor integration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3093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04040"/>
                </a:solidFill>
              </a:defRPr>
            </a:pPr>
            <a:r>
              <a:t>CLOUD-NATIVE DEPLOYMENT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9494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404040"/>
                </a:solidFill>
              </a:defRPr>
            </a:pPr>
            <a:r>
              <a:t>Auto-scaling, backups, zero-downtime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Implementation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04040"/>
                </a:solidFill>
              </a:defRPr>
            </a:pPr>
            <a:r>
              <a:t>LIVE TODAY: IoT Gateway Operational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404040"/>
                </a:solidFill>
              </a:defRPr>
            </a:pPr>
            <a:r>
              <a:t>MQTT integration connecting sensors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04040"/>
                </a:solidFill>
              </a:defRPr>
            </a:pPr>
            <a:r>
              <a:t>PHASE 1: Core Module Rollout (Months 1-3)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1089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404040"/>
                </a:solidFill>
              </a:defRPr>
            </a:pPr>
            <a:r>
              <a:t>Enrollment, Finance, Asset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7490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04040"/>
                </a:solidFill>
              </a:defRPr>
            </a:pPr>
            <a:r>
              <a:t>PHASE 2: Full Integration (Months 4-6)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3891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404040"/>
                </a:solidFill>
              </a:defRPr>
            </a:pPr>
            <a:r>
              <a:t>LMS connectivity, analytics, mobile app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029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04040"/>
                </a:solidFill>
              </a:defRPr>
            </a:pPr>
            <a:r>
              <a:t>PHASE 3: Smart Campus Go-Live (Months 7-9)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6692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404040"/>
                </a:solidFill>
              </a:defRPr>
            </a:pPr>
            <a:r>
              <a:t>Complete IoT ecosystem, AI insights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The Future Is Built. Let's Deploy.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SMART-CAMPUS is live - a working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74904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Immediate ROI from day 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Cloud deployment ensures scalability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39496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REQUESTING APPROVAL: Phase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5486400"/>
            <a:ext cx="3657600" cy="731520"/>
          </a:xfrm>
          <a:prstGeom prst="roundRect">
            <a:avLst/>
          </a:prstGeom>
          <a:solidFill>
            <a:srgbClr val="80002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APPROVE PHASE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