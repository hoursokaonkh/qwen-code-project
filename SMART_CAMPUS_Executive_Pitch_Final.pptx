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Transforming Education Through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SMART-CAMPUS: Enterprise Management System for NPIC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Cost of Inaction vs. Digital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Status Quo: Fragmented data, manual inefficiencies, revenue leakage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Rising student expectations demand seamless digital experiences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Competitive pressure: Modern institutions leverage technology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The Future: Unified ecosystem, real-time insights, automated workflows</a:t>
            </a:r>
          </a:p>
        </p:txBody>
      </p:sp>
      <p:pic>
        <p:nvPicPr>
          <p:cNvPr id="5" name="Picture 4" descr="im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029200" cy="32595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One Platform. Every Operation.</a:t>
            </a:r>
          </a:p>
        </p:txBody>
      </p:sp>
      <p:pic>
        <p:nvPicPr>
          <p:cNvPr id="4" name="Picture 3" descr="im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029200" cy="32595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109728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Unified Ecosystem: Admissions, Academics, Finance, HR in one system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Role-Based Access: Granular permissions for all stakeholders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Real-Time Analytics: Instant visibility into institutional performance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Scalable Architecture: Grows with NPIC's ambitions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Measurable Impact. Immediate ROI.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3474720" cy="4114800"/>
          </a:xfrm>
          <a:prstGeom prst="rect">
            <a:avLst/>
          </a:prstGeom>
          <a:solidFill>
            <a:srgbClr val="F0F0F0"/>
          </a:solidFill>
          <a:ln w="38100">
            <a:solidFill>
              <a:srgbClr val="800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108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800020"/>
                </a:solidFill>
              </a:defRPr>
            </a:pPr>
            <a:r>
              <a:t>85%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003366"/>
                </a:solidFill>
              </a:defRPr>
            </a:pPr>
            <a:r>
              <a:t>Reduction in Administrative Processing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371600"/>
            <a:ext cx="3474720" cy="4114800"/>
          </a:xfrm>
          <a:prstGeom prst="rect">
            <a:avLst/>
          </a:prstGeom>
          <a:solidFill>
            <a:srgbClr val="F0F0F0"/>
          </a:solidFill>
          <a:ln w="38100">
            <a:solidFill>
              <a:srgbClr val="800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108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800020"/>
                </a:solidFill>
              </a:defRPr>
            </a:pPr>
            <a:r>
              <a:t>$0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0175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003366"/>
                </a:solidFill>
              </a:defRPr>
            </a:pPr>
            <a:r>
              <a:t>Revenue Shrinkage Through Automation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0" y="1371600"/>
            <a:ext cx="3474720" cy="4114800"/>
          </a:xfrm>
          <a:prstGeom prst="rect">
            <a:avLst/>
          </a:prstGeom>
          <a:solidFill>
            <a:srgbClr val="F0F0F0"/>
          </a:solidFill>
          <a:ln w="38100">
            <a:solidFill>
              <a:srgbClr val="800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45920"/>
            <a:ext cx="3108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800020"/>
                </a:solidFill>
              </a:defRPr>
            </a:pPr>
            <a: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0175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003366"/>
                </a:solidFill>
              </a:defRPr>
            </a:pPr>
            <a:r>
              <a:t>Data Integrity &amp; Audit Trail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Academic Excellence: Enrollment to Graduation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Digital admissions pipeline with document verification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Automated course registration and scheduling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Real-time grade management and transcript generation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Comprehensive student lifecycle tracking</a:t>
            </a:r>
          </a:p>
        </p:txBody>
      </p:sp>
      <p:pic>
        <p:nvPicPr>
          <p:cNvPr id="5" name="Picture 4" descr="im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029200" cy="32899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Facilities &amp; Asset Management</a:t>
            </a:r>
          </a:p>
        </p:txBody>
      </p:sp>
      <p:pic>
        <p:nvPicPr>
          <p:cNvPr id="4" name="Picture 3" descr="im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029200" cy="39343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109728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Digital twin infrastructure monitoring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IoT-enabled dormitory access control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Preventive maintenance scheduling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Asset tracking with QR code integration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Integrated Financial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Auto-generated invoices with Bakong KHQR integration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Real-time payment reconciliation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Budget tracking and financial reporting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Zero manual cash handling reduces risk</a:t>
            </a:r>
          </a:p>
        </p:txBody>
      </p:sp>
      <p:pic>
        <p:nvPicPr>
          <p:cNvPr id="5" name="Picture 4" descr="imag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029200" cy="33268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Cloud vs. On-Premise Deployment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023360"/>
                <a:gridCol w="4023360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Factor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Cloud Deployment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On-Premise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03366"/>
                          </a:solidFill>
                        </a:defRPr>
                      </a:pPr>
                      <a:r>
                        <a:t>Upfront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3366"/>
                          </a:solidFill>
                        </a:defRPr>
                      </a:pPr>
                      <a:r>
                        <a:t>Low (Pay-as-you-go)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3366"/>
                          </a:solidFill>
                        </a:defRPr>
                      </a:pPr>
                      <a:r>
                        <a:t>High (Hardware investment)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03366"/>
                          </a:solidFill>
                        </a:defRPr>
                      </a:pPr>
                      <a:r>
                        <a:t>Scalability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3366"/>
                          </a:solidFill>
                        </a:defRPr>
                      </a:pPr>
                      <a:r>
                        <a:t>Instant elasticity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3366"/>
                          </a:solidFill>
                        </a:defRPr>
                      </a:pPr>
                      <a:r>
                        <a:t>Fixed capacity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03366"/>
                          </a:solidFill>
                        </a:defRPr>
                      </a:pPr>
                      <a:r>
                        <a:t>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3366"/>
                          </a:solidFill>
                        </a:defRPr>
                      </a:pPr>
                      <a:r>
                        <a:t>Zero upkeep (managed)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3366"/>
                          </a:solidFill>
                        </a:defRPr>
                      </a:pPr>
                      <a:r>
                        <a:t>24/7 internal IT required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03366"/>
                          </a:solidFill>
                        </a:defRPr>
                      </a:pPr>
                      <a:r>
                        <a:t>Security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3366"/>
                          </a:solidFill>
                        </a:defRPr>
                      </a:pPr>
                      <a:r>
                        <a:t>Built-in compliance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3366"/>
                          </a:solidFill>
                        </a:defRPr>
                      </a:pPr>
                      <a:r>
                        <a:t>Your responsibility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03366"/>
                          </a:solidFill>
                        </a:defRPr>
                      </a:pPr>
                      <a:r>
                        <a:t>Uptime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3366"/>
                          </a:solidFill>
                        </a:defRPr>
                      </a:pPr>
                      <a:r>
                        <a:t>99.9%+ SLA guaranteed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3366"/>
                          </a:solidFill>
                        </a:defRPr>
                      </a:pPr>
                      <a:r>
                        <a:t>Infrastructure dependent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03366"/>
                          </a:solidFill>
                        </a:defRPr>
                      </a:pPr>
                      <a:r>
                        <a:t>Updates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3366"/>
                          </a:solidFill>
                        </a:defRPr>
                      </a:pPr>
                      <a:r>
                        <a:t>Automatic, seamless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3366"/>
                          </a:solidFill>
                        </a:defRPr>
                      </a:pPr>
                      <a:r>
                        <a:t>Manual, risky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Enterprise-Grade Technology Stack</a:t>
            </a:r>
          </a:p>
        </p:txBody>
      </p:sp>
      <p:pic>
        <p:nvPicPr>
          <p:cNvPr id="4" name="Picture 3" descr="imag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029200" cy="3352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109728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Next.js: Lightning-fast responsive interface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NestJS: Robust, scalable backend architecture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Docker Containers: Consistent deployment, 99.9% uptime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MQTT Protocol: Real-time IoT device communication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RBAC Security: Military-grade access control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Strategic 9-Month Rollout Plan</a:t>
            </a:r>
          </a:p>
        </p:txBody>
      </p:sp>
      <p:sp>
        <p:nvSpPr>
          <p:cNvPr id="4" name="Right Arrow 3"/>
          <p:cNvSpPr/>
          <p:nvPr/>
        </p:nvSpPr>
        <p:spPr>
          <a:xfrm>
            <a:off x="457200" y="2286000"/>
            <a:ext cx="11277295" cy="1828800"/>
          </a:xfrm>
          <a:prstGeom prst="rightArrow">
            <a:avLst/>
          </a:prstGeom>
          <a:solidFill>
            <a:srgbClr val="F0F0F0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2103120"/>
            <a:ext cx="731520" cy="731520"/>
          </a:xfrm>
          <a:prstGeom prst="ellipse">
            <a:avLst/>
          </a:prstGeom>
          <a:solidFill>
            <a:srgbClr val="800020"/>
          </a:solidFill>
          <a:ln w="381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21945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003366"/>
                </a:solidFill>
              </a:defRPr>
            </a:pPr>
            <a:r>
              <a:t>Core Module Deployment</a:t>
            </a:r>
            <a:br/>
            <a:r>
              <a:t>Months 1-3</a:t>
            </a:r>
            <a:br/>
            <a:r>
              <a:t>Admissions, Registration, Finance</a:t>
            </a:r>
          </a:p>
        </p:txBody>
      </p:sp>
      <p:sp>
        <p:nvSpPr>
          <p:cNvPr id="8" name="Oval 7"/>
          <p:cNvSpPr/>
          <p:nvPr/>
        </p:nvSpPr>
        <p:spPr>
          <a:xfrm>
            <a:off x="5729630" y="2103120"/>
            <a:ext cx="731520" cy="731520"/>
          </a:xfrm>
          <a:prstGeom prst="ellipse">
            <a:avLst/>
          </a:prstGeom>
          <a:solidFill>
            <a:srgbClr val="800020"/>
          </a:solidFill>
          <a:ln w="381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21070" y="21945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3790" y="320040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003366"/>
                </a:solidFill>
              </a:defRPr>
            </a:pPr>
            <a:r>
              <a:t>Full Integration</a:t>
            </a:r>
            <a:br/>
            <a:r>
              <a:t>Months 4-6</a:t>
            </a:r>
            <a:br/>
            <a:r>
              <a:t>HR, Facilities, IoT sensors</a:t>
            </a:r>
          </a:p>
        </p:txBody>
      </p:sp>
      <p:sp>
        <p:nvSpPr>
          <p:cNvPr id="11" name="Oval 10"/>
          <p:cNvSpPr/>
          <p:nvPr/>
        </p:nvSpPr>
        <p:spPr>
          <a:xfrm>
            <a:off x="9997135" y="2103120"/>
            <a:ext cx="731520" cy="731520"/>
          </a:xfrm>
          <a:prstGeom prst="ellipse">
            <a:avLst/>
          </a:prstGeom>
          <a:solidFill>
            <a:srgbClr val="800020"/>
          </a:solidFill>
          <a:ln w="381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8575" y="21945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1295" y="320040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003366"/>
                </a:solidFill>
              </a:defRPr>
            </a:pPr>
            <a:r>
              <a:t>Go-Live &amp; Optimization</a:t>
            </a:r>
            <a:br/>
            <a:r>
              <a:t>Months 7-9</a:t>
            </a:r>
            <a:br/>
            <a:r>
              <a:t>Training, rollout, refinement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Approve Phase 1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560320"/>
            <a:ext cx="6705295" cy="1371600"/>
          </a:xfrm>
          <a:prstGeom prst="rect">
            <a:avLst/>
          </a:prstGeom>
          <a:solidFill>
            <a:srgbClr val="80002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2834640"/>
            <a:ext cx="6339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Authorize Cloud Deployment Initiation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✓ Immediate 85% reduction in administrative overhead</a:t>
            </a:r>
          </a:p>
          <a:p>
            <a:pPr algn="ctr"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✓ Zero revenue leakage through automated billing</a:t>
            </a:r>
          </a:p>
          <a:p>
            <a:pPr algn="ctr"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✓ Future-ready cloud infrastructure</a:t>
            </a:r>
          </a:p>
          <a:p>
            <a:pPr algn="ctr"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✓ Enhanced institutional reputation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